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5" r:id="rId3"/>
    <p:sldId id="264" r:id="rId4"/>
    <p:sldId id="259" r:id="rId5"/>
    <p:sldId id="261" r:id="rId6"/>
    <p:sldId id="262" r:id="rId7"/>
    <p:sldId id="266" r:id="rId8"/>
    <p:sldId id="270" r:id="rId9"/>
    <p:sldId id="271" r:id="rId10"/>
    <p:sldId id="272" r:id="rId11"/>
    <p:sldId id="274" r:id="rId12"/>
    <p:sldId id="273" r:id="rId13"/>
    <p:sldId id="276" r:id="rId14"/>
    <p:sldId id="280" r:id="rId15"/>
    <p:sldId id="279" r:id="rId16"/>
    <p:sldId id="277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요" id="{19385064-A766-4204-8C5B-2ABC1C694109}">
          <p14:sldIdLst>
            <p14:sldId id="256"/>
            <p14:sldId id="265"/>
            <p14:sldId id="264"/>
            <p14:sldId id="259"/>
            <p14:sldId id="261"/>
            <p14:sldId id="262"/>
            <p14:sldId id="266"/>
            <p14:sldId id="270"/>
            <p14:sldId id="271"/>
            <p14:sldId id="272"/>
            <p14:sldId id="274"/>
            <p14:sldId id="273"/>
            <p14:sldId id="276"/>
            <p14:sldId id="280"/>
            <p14:sldId id="279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92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14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주 MARK-4 앱 변경사항 보고: Dual Strip 선택 화면 추가, 정보 입력 화면 개선, Dual 엑셀 양식 초안.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CA1E-7411-3FFA-CF26-795CC4294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368FE-4107-C449-7CF5-A3CF3AB2A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5CE10D-F106-A0F0-1267-E31D416AF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Dual은 선택 화면과 안내까지만 구현. 측정·분석 기능은 장비 쪽 지원 여부 확인 후 진행.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305B1-5A82-20B0-5A0B-DC43D4E973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1213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3EE69-2C45-F75B-05AD-1955B55D9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64C54A-344C-41C2-E412-8E526945C6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56ECB8-EEEE-86E5-30D4-D8645C08EF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Dual은 선택 화면과 안내까지만 구현. 측정·분석 기능은 장비 쪽 지원 여부 확인 후 진행.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220621-DAB0-94A2-0E07-B23E76F363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760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iPad 시뮬레이터에서 실제 앱을 실행해 캡처한 화면.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스트립 구조 도식(Ctrl 2mm, 라인 간격 3mm, 총 13mm)에 맞춰 라인 7개를 열로 구성. 현재 Single 출력은 xlsx가 아니라 CSV.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60F05-7307-B1BD-FBF9-69B9D2127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C6F7BD-E774-8322-65B1-5F1ADE1A0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8A06D4-C0B4-4F49-4C59-D570D4470B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42BCF7-F46E-3F0B-0952-0971E78C7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9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185F-DB86-41C2-9136-7D47F131A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A334A9-A114-AA89-A4C7-BF00673A4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0078A3-0BBC-0A81-ECEF-5B3D17ED61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C373D-8F73-0DE3-680A-065691F0BF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95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628E4-588E-D626-7DF2-60315268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3B3F4-10DE-E3B8-E574-796903780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1FD163-C99C-2029-92B4-65159E7DC0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A90BCA-C351-152B-6E56-51D92447A3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3034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9043F-F060-7B89-027C-E5EBF22C6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C9C82A-F86F-BFCF-E998-96901AEA44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907A8B-5330-92D8-C313-4E2112B0D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D281-CA86-9801-C123-C161590E5E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6448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E4401-8A89-E0C9-F2E1-347AABC96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831E62-2E3D-B713-9960-690304D2E9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115F7F-0B80-F5B2-8818-E080827EB1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AC3C89-9F91-74FC-93E8-5F3B19BE94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91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8E2C9-AB0E-94FD-755D-2B204B916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7E143-3AE6-7D74-E089-22AA602BA5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AE19E8-88E9-C3EA-DBA2-DFE8EBC251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67A22-1A1D-9892-71F1-A6410DF48C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2534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58248-42F9-3873-67FF-E44CFAFE1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58797-2ADA-77E7-B38F-9C93BEA8F3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BC95AA-AD6B-0D26-8C3E-2484CBECC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1367C-3ACC-6260-FEBB-EABE4E276C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02567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75F73-1B90-CFC8-A792-07D137E77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4CFD2B-7520-764C-248C-F4E26DEB2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F7E3C6-6970-22F3-6BA7-0342164F60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80D58-2CEF-EF85-0487-3E1B7ACBDB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9279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1A73B-5EFE-47D8-26FD-4C0FBAB4B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74CAD8-D14F-8032-ADD0-C81928C639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66D4DE-E5F9-C4C8-C300-351D351F6A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9B276-CA6E-E6AC-B02B-991217976E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5541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8233-2EA6-F0F8-704B-42DEC6D21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A8CF54-482E-C5E6-B1EE-108423BF88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987EAA-4149-2DCD-0654-E70EFBA3A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일부 행만 발췌. 전체 7행은 dual_strip_sample.xlsx 참고. 값과 판정 기준은 모두 예시.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677EE-DF68-3900-6FCC-3B513D0B13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946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A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EF3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5"/>
                </a:solidFill>
              </a:rPr>
              <a:t>주간업무회의</a:t>
            </a:r>
            <a:endParaRPr lang="en-US" sz="1100" dirty="0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31520" y="20116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r>
              <a:rPr lang="ko-KR" alt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 </a:t>
            </a:r>
            <a:r>
              <a:rPr lang="en-US" altLang="ko-KR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ko-KR" alt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주차 주간업무</a:t>
            </a: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보고</a:t>
            </a:r>
            <a:endParaRPr lang="en-US" sz="4800" dirty="0"/>
          </a:p>
        </p:txBody>
      </p:sp>
      <p:sp>
        <p:nvSpPr>
          <p:cNvPr id="3" name="Subtitle"/>
          <p:cNvSpPr txBox="1"/>
          <p:nvPr/>
        </p:nvSpPr>
        <p:spPr>
          <a:xfrm>
            <a:off x="731520" y="31089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Mark4 · </a:t>
            </a:r>
            <a:r>
              <a:rPr lang="ko-KR" alt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</a:t>
            </a:r>
            <a:r>
              <a:rPr lang="en-US" altLang="ko-KR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</a:t>
            </a:r>
            <a:r>
              <a:rPr lang="ko-KR" alt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대시보드 연동</a:t>
            </a:r>
            <a:r>
              <a:rPr 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</a:t>
            </a:r>
            <a:r>
              <a:rPr lang="ko-KR" alt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앱</a:t>
            </a:r>
            <a:r>
              <a:rPr lang="en-US" altLang="ko-KR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마약 </a:t>
            </a:r>
            <a:r>
              <a:rPr lang="en-US" altLang="ko-KR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ko-KR" altLang="en-US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경찰청 통합</a:t>
            </a:r>
            <a:r>
              <a:rPr lang="en-US" altLang="ko-KR" sz="2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B4B61-C7BB-3C42-E3B4-AB9947E2D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77B82806-4BF7-8392-6341-C68C181E71BF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 err="1"/>
              <a:t>화면</a:t>
            </a:r>
            <a:r>
              <a:rPr lang="en-US" altLang="ko-KR" dirty="0"/>
              <a:t> </a:t>
            </a:r>
            <a:r>
              <a:rPr lang="en-US" altLang="ko-KR" dirty="0" err="1"/>
              <a:t>흐름</a:t>
            </a:r>
            <a:r>
              <a:rPr lang="en-US" altLang="ko-KR" dirty="0"/>
              <a:t> </a:t>
            </a:r>
            <a:r>
              <a:rPr lang="en-US" altLang="ko-KR" dirty="0" err="1"/>
              <a:t>변경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기존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6EB2DDD9-89A2-4549-C66E-80BF09B06D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1F4BD5EA-3F00-B8CD-55BC-25A2799A0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9574"/>
            <a:ext cx="3198083" cy="4264111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AB6E3A4-57A9-576A-A5F2-E32B97DA75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5308" y="1543736"/>
            <a:ext cx="2661383" cy="4259947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9B8F75EF-78C0-5C2E-6A77-D4B2DE6277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5276" y="1539574"/>
            <a:ext cx="2666586" cy="4268276"/>
          </a:xfrm>
          <a:prstGeom prst="rect">
            <a:avLst/>
          </a:prstGeom>
        </p:spPr>
      </p:pic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1DFBB8EB-C729-3B7A-3ED5-F35584884D8E}"/>
              </a:ext>
            </a:extLst>
          </p:cNvPr>
          <p:cNvSpPr/>
          <p:nvPr/>
        </p:nvSpPr>
        <p:spPr>
          <a:xfrm>
            <a:off x="548640" y="2931252"/>
            <a:ext cx="3198083" cy="11167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B64568D7-A766-2092-3C38-7D694E0697F1}"/>
              </a:ext>
            </a:extLst>
          </p:cNvPr>
          <p:cNvCxnSpPr>
            <a:stCxn id="40" idx="3"/>
            <a:endCxn id="34" idx="1"/>
          </p:cNvCxnSpPr>
          <p:nvPr/>
        </p:nvCxnSpPr>
        <p:spPr>
          <a:xfrm>
            <a:off x="3746723" y="3489635"/>
            <a:ext cx="1018585" cy="18407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6696BFF2-F873-5810-5BD3-1F6787090FF8}"/>
              </a:ext>
            </a:extLst>
          </p:cNvPr>
          <p:cNvSpPr/>
          <p:nvPr/>
        </p:nvSpPr>
        <p:spPr>
          <a:xfrm>
            <a:off x="5559136" y="5122717"/>
            <a:ext cx="1953491" cy="82296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E7D4D1CE-3C5C-A36E-0079-B55A0A07A5B5}"/>
              </a:ext>
            </a:extLst>
          </p:cNvPr>
          <p:cNvCxnSpPr>
            <a:cxnSpLocks/>
          </p:cNvCxnSpPr>
          <p:nvPr/>
        </p:nvCxnSpPr>
        <p:spPr>
          <a:xfrm flipV="1">
            <a:off x="7512627" y="4767701"/>
            <a:ext cx="707892" cy="67445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43152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9FF7B-30EB-A28C-F332-863F06D29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995C87F-C32F-FB79-AC7E-9A50C7E72D6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 err="1"/>
              <a:t>화면</a:t>
            </a:r>
            <a:r>
              <a:rPr lang="en-US" altLang="ko-KR" dirty="0"/>
              <a:t> </a:t>
            </a:r>
            <a:r>
              <a:rPr lang="en-US" altLang="ko-KR" dirty="0" err="1"/>
              <a:t>흐름</a:t>
            </a:r>
            <a:r>
              <a:rPr lang="en-US" altLang="ko-KR" dirty="0"/>
              <a:t> </a:t>
            </a:r>
            <a:r>
              <a:rPr lang="en-US" altLang="ko-KR" dirty="0" err="1"/>
              <a:t>변경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신규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6" name="Slide Number Placeholder 0">
            <a:extLst>
              <a:ext uri="{FF2B5EF4-FFF2-40B4-BE49-F238E27FC236}">
                <a16:creationId xmlns:a16="http://schemas.microsoft.com/office/drawing/2014/main" id="{BED235F0-F2C6-F51F-0C3A-42B9246C5C4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6B7A8108-CDD8-D5DD-02CC-8C807869493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" b="-497"/>
          <a:stretch>
            <a:fillRect/>
          </a:stretch>
        </p:blipFill>
        <p:spPr>
          <a:xfrm>
            <a:off x="4602672" y="1539574"/>
            <a:ext cx="3182251" cy="4264111"/>
          </a:xfrm>
          <a:prstGeom prst="rect">
            <a:avLst/>
          </a:prstGeom>
        </p:spPr>
      </p:pic>
      <p:pic>
        <p:nvPicPr>
          <p:cNvPr id="33" name="Image 2" descr="③ Single Strip → 정보 입력">
            <a:extLst>
              <a:ext uri="{FF2B5EF4-FFF2-40B4-BE49-F238E27FC236}">
                <a16:creationId xmlns:a16="http://schemas.microsoft.com/office/drawing/2014/main" id="{A344B782-9D0F-1E34-D489-CCA5DE1D8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872" y="1539574"/>
            <a:ext cx="3198318" cy="4264110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8014550B-1F3A-3AC5-6214-8D4899E27E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1539574"/>
            <a:ext cx="3198083" cy="4264111"/>
          </a:xfrm>
          <a:prstGeom prst="rect">
            <a:avLst/>
          </a:prstGeom>
        </p:spPr>
      </p:pic>
      <p:sp>
        <p:nvSpPr>
          <p:cNvPr id="43" name="모서리가 둥근 직사각형 42">
            <a:extLst>
              <a:ext uri="{FF2B5EF4-FFF2-40B4-BE49-F238E27FC236}">
                <a16:creationId xmlns:a16="http://schemas.microsoft.com/office/drawing/2014/main" id="{68F74581-A65F-0AEF-0C9C-767A85A35F37}"/>
              </a:ext>
            </a:extLst>
          </p:cNvPr>
          <p:cNvSpPr/>
          <p:nvPr/>
        </p:nvSpPr>
        <p:spPr>
          <a:xfrm>
            <a:off x="548640" y="2931252"/>
            <a:ext cx="3198083" cy="111676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CF3007B8-12DF-6E8E-B8FD-603228DCA29F}"/>
              </a:ext>
            </a:extLst>
          </p:cNvPr>
          <p:cNvCxnSpPr>
            <a:cxnSpLocks/>
          </p:cNvCxnSpPr>
          <p:nvPr/>
        </p:nvCxnSpPr>
        <p:spPr>
          <a:xfrm>
            <a:off x="3746723" y="3489635"/>
            <a:ext cx="742150" cy="3965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F3EF752-643B-6F88-98D1-F101DD908E2D}"/>
              </a:ext>
            </a:extLst>
          </p:cNvPr>
          <p:cNvCxnSpPr>
            <a:cxnSpLocks/>
          </p:cNvCxnSpPr>
          <p:nvPr/>
        </p:nvCxnSpPr>
        <p:spPr>
          <a:xfrm>
            <a:off x="7898722" y="3849735"/>
            <a:ext cx="742150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30650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신규 화면</a:t>
            </a:r>
            <a:endParaRPr lang="en-US" sz="3400" dirty="0"/>
          </a:p>
        </p:txBody>
      </p:sp>
      <p:sp>
        <p:nvSpPr>
          <p:cNvPr id="3" name="Frame 1"/>
          <p:cNvSpPr/>
          <p:nvPr/>
        </p:nvSpPr>
        <p:spPr>
          <a:xfrm>
            <a:off x="2084627" y="1335024"/>
            <a:ext cx="3182112" cy="4218127"/>
          </a:xfrm>
          <a:prstGeom prst="rect">
            <a:avLst/>
          </a:prstGeom>
          <a:solidFill>
            <a:schemeClr val="bg1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① RUN TEST → Strip 선택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203" y="1371600"/>
            <a:ext cx="3108960" cy="41449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121203" y="5653735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RUN TEST → Strip 선택</a:t>
            </a:r>
            <a:endParaRPr lang="en-US" sz="1500" dirty="0"/>
          </a:p>
        </p:txBody>
      </p:sp>
      <p:sp>
        <p:nvSpPr>
          <p:cNvPr id="9" name="Frame 3"/>
          <p:cNvSpPr/>
          <p:nvPr/>
        </p:nvSpPr>
        <p:spPr>
          <a:xfrm>
            <a:off x="6802931" y="1335024"/>
            <a:ext cx="3182112" cy="4218127"/>
          </a:xfrm>
          <a:prstGeom prst="rect">
            <a:avLst/>
          </a:prstGeom>
          <a:solidFill>
            <a:schemeClr val="bg1"/>
          </a:solidFill>
          <a:ln w="12700">
            <a:solidFill>
              <a:srgbClr val="C9D3E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2" descr="③ Single Strip → 정보 입력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507" y="1371600"/>
            <a:ext cx="3108960" cy="414497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39507" y="5653735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b="1" dirty="0" err="1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</a:t>
            </a:r>
            <a:r>
              <a:rPr lang="en-US" sz="15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입력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엑셀 출력: Single → Dual</a:t>
            </a:r>
            <a:endParaRPr lang="en-US" sz="3400" dirty="0"/>
          </a:p>
        </p:txBody>
      </p:sp>
      <p:sp>
        <p:nvSpPr>
          <p:cNvPr id="3" name="Single Card"/>
          <p:cNvSpPr/>
          <p:nvPr/>
        </p:nvSpPr>
        <p:spPr>
          <a:xfrm>
            <a:off x="548640" y="1463040"/>
            <a:ext cx="484632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645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(기존 · CSV)</a:t>
            </a:r>
            <a:endParaRPr lang="en-US" sz="2000" dirty="0"/>
          </a:p>
        </p:txBody>
      </p:sp>
      <p:sp>
        <p:nvSpPr>
          <p:cNvPr id="5" name="Single Card Label 1"/>
          <p:cNvSpPr/>
          <p:nvPr/>
        </p:nvSpPr>
        <p:spPr>
          <a:xfrm>
            <a:off x="822960" y="228600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2860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UserId, SampleType, Item</a:t>
            </a:r>
            <a:endParaRPr lang="en-US" sz="1400" dirty="0"/>
          </a:p>
        </p:txBody>
      </p:sp>
      <p:sp>
        <p:nvSpPr>
          <p:cNvPr id="8" name="Single Card Label 2"/>
          <p:cNvSpPr/>
          <p:nvPr/>
        </p:nvSpPr>
        <p:spPr>
          <a:xfrm>
            <a:off x="822960" y="292608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926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측정값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194560" y="2926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Intensity, T Intensity</a:t>
            </a:r>
            <a:endParaRPr lang="en-US" sz="1400" dirty="0"/>
          </a:p>
        </p:txBody>
      </p:sp>
      <p:sp>
        <p:nvSpPr>
          <p:cNvPr id="11" name="Single Card Label 3"/>
          <p:cNvSpPr/>
          <p:nvPr/>
        </p:nvSpPr>
        <p:spPr>
          <a:xfrm>
            <a:off x="822960" y="356616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CaptureImage</a:t>
            </a:r>
            <a:endParaRPr lang="en-US" sz="1400" dirty="0"/>
          </a:p>
        </p:txBody>
      </p:sp>
      <p:sp>
        <p:nvSpPr>
          <p:cNvPr id="14" name="Dual Card"/>
          <p:cNvSpPr/>
          <p:nvPr/>
        </p:nvSpPr>
        <p:spPr>
          <a:xfrm>
            <a:off x="5669280" y="1463040"/>
            <a:ext cx="5943600" cy="4206240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/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943600" y="16459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(신규 양식)</a:t>
            </a:r>
            <a:endParaRPr lang="en-US" sz="2000" dirty="0"/>
          </a:p>
        </p:txBody>
      </p:sp>
      <p:sp>
        <p:nvSpPr>
          <p:cNvPr id="16" name="Dual Card Label 1"/>
          <p:cNvSpPr/>
          <p:nvPr/>
        </p:nvSpPr>
        <p:spPr>
          <a:xfrm>
            <a:off x="5943600" y="228600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943600" y="228600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2860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Date, UserId, SampleType, StripType</a:t>
            </a:r>
            <a:endParaRPr lang="en-US" sz="1400" dirty="0"/>
          </a:p>
        </p:txBody>
      </p:sp>
      <p:sp>
        <p:nvSpPr>
          <p:cNvPr id="19" name="Dual Card Label 2"/>
          <p:cNvSpPr/>
          <p:nvPr/>
        </p:nvSpPr>
        <p:spPr>
          <a:xfrm>
            <a:off x="5943600" y="292608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943600" y="2926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 스트립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0" y="29260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Ctrl(L), FluA, RSV Intensity</a:t>
            </a:r>
            <a:endParaRPr lang="en-US" sz="1400" dirty="0"/>
          </a:p>
        </p:txBody>
      </p:sp>
      <p:sp>
        <p:nvSpPr>
          <p:cNvPr id="22" name="Dual Card Label 3"/>
          <p:cNvSpPr/>
          <p:nvPr/>
        </p:nvSpPr>
        <p:spPr>
          <a:xfrm>
            <a:off x="5943600" y="356616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5943600" y="356616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 스트립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0" y="356616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Ctrl(R), FluB, AdV, CoV Intensity</a:t>
            </a:r>
            <a:endParaRPr lang="en-US" sz="1400" dirty="0"/>
          </a:p>
        </p:txBody>
      </p:sp>
      <p:sp>
        <p:nvSpPr>
          <p:cNvPr id="25" name="Dual Card Label 4"/>
          <p:cNvSpPr/>
          <p:nvPr/>
        </p:nvSpPr>
        <p:spPr>
          <a:xfrm>
            <a:off x="5943600" y="420624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5943600" y="4206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판정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315200" y="42062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FluA, RSV, FluB, AdV, CoV Result</a:t>
            </a:r>
            <a:endParaRPr lang="en-US" sz="1400" dirty="0"/>
          </a:p>
        </p:txBody>
      </p:sp>
      <p:sp>
        <p:nvSpPr>
          <p:cNvPr id="28" name="Dual Card Label 5"/>
          <p:cNvSpPr/>
          <p:nvPr/>
        </p:nvSpPr>
        <p:spPr>
          <a:xfrm>
            <a:off x="5943600" y="4846320"/>
            <a:ext cx="1234440" cy="4572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943600" y="484632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48463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CaptureImage</a:t>
            </a:r>
            <a:endParaRPr lang="en-US" sz="14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1"/>
                </a:solidFill>
              </a:rPr>
              <a:t>Dual </a:t>
            </a:r>
            <a:r>
              <a:rPr lang="en-US" sz="3400" b="1" dirty="0" err="1">
                <a:solidFill>
                  <a:schemeClr val="tx1"/>
                </a:solidFill>
              </a:rPr>
              <a:t>엑셀</a:t>
            </a:r>
            <a:r>
              <a:rPr lang="en-US" sz="3400" b="1" dirty="0">
                <a:solidFill>
                  <a:schemeClr val="tx1"/>
                </a:solidFill>
              </a:rPr>
              <a:t> </a:t>
            </a:r>
            <a:r>
              <a:rPr lang="ko-KR" altLang="en-US" sz="3400" b="1" dirty="0">
                <a:solidFill>
                  <a:schemeClr val="tx1"/>
                </a:solidFill>
              </a:rPr>
              <a:t>출력 </a:t>
            </a:r>
            <a:r>
              <a:rPr lang="en-US" sz="3400" b="1" dirty="0" err="1">
                <a:solidFill>
                  <a:schemeClr val="tx1"/>
                </a:solidFill>
              </a:rPr>
              <a:t>샘플</a:t>
            </a:r>
            <a:endParaRPr lang="en-US" sz="3400" dirty="0"/>
          </a:p>
        </p:txBody>
      </p:sp>
      <p:graphicFrame>
        <p:nvGraphicFramePr>
          <p:cNvPr id="8" name="Sampl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3106937"/>
              </p:ext>
            </p:extLst>
          </p:nvPr>
        </p:nvGraphicFramePr>
        <p:xfrm>
          <a:off x="563880" y="2011680"/>
          <a:ext cx="11064240" cy="2834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UserId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Ctrl(L)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RSV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89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Ctrl(R)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6A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판정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6B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S001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FluA 양성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S003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FluB 양성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S005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E85D5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CoV 양성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S006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1A2A4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전체 음성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7AA22-7C6E-599A-BD85-506680D2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4E447CBA-7DFF-8916-4296-1472FCC82A89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/>
              <a:t>앱 </a:t>
            </a:r>
            <a:r>
              <a:rPr lang="en-US" altLang="ko-KR" dirty="0"/>
              <a:t>–</a:t>
            </a:r>
            <a:r>
              <a:rPr lang="ko-KR" altLang="en-US" dirty="0"/>
              <a:t> 대시보드 연동 </a:t>
            </a:r>
            <a:r>
              <a:rPr lang="en-US" altLang="ko-KR" dirty="0"/>
              <a:t>(</a:t>
            </a:r>
            <a:r>
              <a:rPr lang="ko-KR" altLang="en-US" dirty="0"/>
              <a:t>앱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1DE81D6-072D-2DD3-D4A2-C5C575556DB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07442AA-987F-BD31-EE7F-4105C6F17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00" y="1346431"/>
            <a:ext cx="2162444" cy="481344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5B40439-D8CA-5EFA-540D-9D74A1A17D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549" y="1346430"/>
            <a:ext cx="2162444" cy="4813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B29108E-6888-7C88-FDD2-81C5B0242F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34996" y="1346428"/>
            <a:ext cx="2162445" cy="481344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B01CB61-69CE-A440-9009-AA7D3770F1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10698" y="1346430"/>
            <a:ext cx="2162445" cy="481344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E894492-8965-1EEA-AFB3-4FEEEC7078F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2847" y="1346430"/>
            <a:ext cx="2162445" cy="4813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550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2B49C-8486-40DD-EFFA-74656F9AE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DD3E4DD-A824-CA0E-C343-D329598C4AD8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/>
              <a:t>앱 </a:t>
            </a:r>
            <a:r>
              <a:rPr lang="en-US" altLang="ko-KR" dirty="0"/>
              <a:t>–</a:t>
            </a:r>
            <a:r>
              <a:rPr lang="ko-KR" altLang="en-US" dirty="0"/>
              <a:t> 대시보드 연동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6018512-A7A7-9956-52CE-AB4ECC4C155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8930A2-F78C-D33D-A902-2C5C8F13D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981" y="1503758"/>
            <a:ext cx="5748019" cy="498848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B53DA61-6307-2D79-F7C5-0D96E2727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572" y="1503758"/>
            <a:ext cx="5748019" cy="4988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33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D6E54-0FF9-5F46-7B23-81AAEEB25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FBD5AC57-9515-4C63-DE25-2DF596AC45EE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/>
              <a:t>앱 </a:t>
            </a:r>
            <a:r>
              <a:rPr lang="en-US" altLang="ko-KR" dirty="0"/>
              <a:t>–</a:t>
            </a:r>
            <a:r>
              <a:rPr lang="ko-KR" altLang="en-US" dirty="0"/>
              <a:t> 대시보드 연동 </a:t>
            </a:r>
            <a:r>
              <a:rPr lang="en-US" altLang="ko-KR" dirty="0"/>
              <a:t>(</a:t>
            </a:r>
            <a:r>
              <a:rPr lang="ko-KR" altLang="en-US" dirty="0"/>
              <a:t>웹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F3D1E8F-A063-0C45-29C3-6F6A70C5D30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FE3E526-E1C4-F922-DC75-8FC8A394C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976" y="1696074"/>
            <a:ext cx="4836456" cy="419737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374DCBD-5A55-DBA7-1233-947A3AE412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483" y="1696074"/>
            <a:ext cx="4836456" cy="419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632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6CD4E8-E27A-C6CF-4FDF-CE930820E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BDA63EFA-1307-275B-DACC-3F5D33DEE4A7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/>
              <a:t>앱 </a:t>
            </a:r>
            <a:r>
              <a:rPr lang="en-US" altLang="ko-KR" dirty="0"/>
              <a:t>–</a:t>
            </a:r>
            <a:r>
              <a:rPr lang="ko-KR" altLang="en-US" dirty="0"/>
              <a:t> 대시보드 연동 </a:t>
            </a:r>
            <a:r>
              <a:rPr lang="en-US" altLang="ko-KR" dirty="0"/>
              <a:t>(</a:t>
            </a:r>
            <a:r>
              <a:rPr lang="ko-KR" altLang="en-US" dirty="0"/>
              <a:t>비교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5B6BA6C-841E-6801-53FF-64B8CDE9A59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674C5B1-7958-61E1-B77A-64D92701A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341" y="1188720"/>
            <a:ext cx="5748019" cy="4988482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CD97202F-4971-239D-1B8E-85F18AFCA2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00" y="1346431"/>
            <a:ext cx="2162444" cy="481344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AAA6C37-F631-A8A2-0049-FE94597036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549" y="1346430"/>
            <a:ext cx="2162444" cy="4813441"/>
          </a:xfrm>
          <a:prstGeom prst="rect">
            <a:avLst/>
          </a:prstGeom>
        </p:spPr>
      </p:pic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426B3A3-670A-207C-57DE-F17C043EF2DD}"/>
              </a:ext>
            </a:extLst>
          </p:cNvPr>
          <p:cNvSpPr/>
          <p:nvPr/>
        </p:nvSpPr>
        <p:spPr>
          <a:xfrm>
            <a:off x="548640" y="2404153"/>
            <a:ext cx="2009625" cy="136646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" name="직선 연결선[R] 7">
            <a:extLst>
              <a:ext uri="{FF2B5EF4-FFF2-40B4-BE49-F238E27FC236}">
                <a16:creationId xmlns:a16="http://schemas.microsoft.com/office/drawing/2014/main" id="{7AA2A355-8D4C-003F-2264-7780489E8539}"/>
              </a:ext>
            </a:extLst>
          </p:cNvPr>
          <p:cNvCxnSpPr/>
          <p:nvPr/>
        </p:nvCxnSpPr>
        <p:spPr>
          <a:xfrm>
            <a:off x="6893960" y="4828854"/>
            <a:ext cx="65754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4058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FFB04-8210-CCFE-672A-EDE8E5440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8A8250F2-5FC0-8B80-D5C8-9DD49A9BCCE0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/>
              <a:t>앱 </a:t>
            </a:r>
            <a:r>
              <a:rPr lang="en-US" altLang="ko-KR" dirty="0"/>
              <a:t>–</a:t>
            </a:r>
            <a:r>
              <a:rPr lang="ko-KR" altLang="en-US" dirty="0"/>
              <a:t> 대시보드 연동 </a:t>
            </a:r>
            <a:r>
              <a:rPr lang="en-US" altLang="ko-KR" dirty="0"/>
              <a:t>(</a:t>
            </a:r>
            <a:r>
              <a:rPr lang="ko-KR" altLang="en-US" dirty="0"/>
              <a:t>비교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98B26406-5186-7368-29C4-FC4A682A73E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40E0F86-B840-2E0E-8FB5-7713F27944EF}"/>
              </a:ext>
            </a:extLst>
          </p:cNvPr>
          <p:cNvGrpSpPr/>
          <p:nvPr/>
        </p:nvGrpSpPr>
        <p:grpSpPr>
          <a:xfrm>
            <a:off x="7137239" y="910098"/>
            <a:ext cx="4838716" cy="5332477"/>
            <a:chOff x="7137239" y="910098"/>
            <a:chExt cx="4838716" cy="533247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B767677-0D9A-5A19-DF6F-AEF1E117B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37239" y="2045203"/>
              <a:ext cx="4836456" cy="4197372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91A3ACE2-99C4-3630-593C-D08452237D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5400"/>
            <a:stretch>
              <a:fillRect/>
            </a:stretch>
          </p:blipFill>
          <p:spPr>
            <a:xfrm>
              <a:off x="7139499" y="910098"/>
              <a:ext cx="4836456" cy="3970713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71B296FE-D632-F027-E0FA-EC077FD9B8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899" y="1388038"/>
            <a:ext cx="2162445" cy="481344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BFB2865-146C-796B-DE17-4DA50105D4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34273" y="1388038"/>
            <a:ext cx="2162445" cy="481344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CD659D-8203-20F6-D396-E9E895BCB5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23778" y="1388038"/>
            <a:ext cx="2162445" cy="4813443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9A6FA5FB-9DDC-BE0B-126C-D0CE5FF3FCF2}"/>
              </a:ext>
            </a:extLst>
          </p:cNvPr>
          <p:cNvSpPr/>
          <p:nvPr/>
        </p:nvSpPr>
        <p:spPr>
          <a:xfrm>
            <a:off x="7643973" y="3976099"/>
            <a:ext cx="1181528" cy="14486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4A034E5-7584-9EB7-2AAE-BDE2685123CA}"/>
              </a:ext>
            </a:extLst>
          </p:cNvPr>
          <p:cNvSpPr/>
          <p:nvPr/>
        </p:nvSpPr>
        <p:spPr>
          <a:xfrm>
            <a:off x="494056" y="4611384"/>
            <a:ext cx="389522" cy="7414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36E6988D-DE5D-398C-5FE6-16A8565D6FE6}"/>
              </a:ext>
            </a:extLst>
          </p:cNvPr>
          <p:cNvSpPr/>
          <p:nvPr/>
        </p:nvSpPr>
        <p:spPr>
          <a:xfrm>
            <a:off x="2632012" y="2633803"/>
            <a:ext cx="1005039" cy="279095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BAE35DF-7DC9-71B8-F1A0-F494F20397B9}"/>
              </a:ext>
            </a:extLst>
          </p:cNvPr>
          <p:cNvSpPr/>
          <p:nvPr/>
        </p:nvSpPr>
        <p:spPr>
          <a:xfrm>
            <a:off x="4796718" y="3428999"/>
            <a:ext cx="1180854" cy="19957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17" name="직선 연결선[R] 16">
            <a:extLst>
              <a:ext uri="{FF2B5EF4-FFF2-40B4-BE49-F238E27FC236}">
                <a16:creationId xmlns:a16="http://schemas.microsoft.com/office/drawing/2014/main" id="{6594DA09-F62D-EC11-BE1F-0E2A95404E2D}"/>
              </a:ext>
            </a:extLst>
          </p:cNvPr>
          <p:cNvCxnSpPr/>
          <p:nvPr/>
        </p:nvCxnSpPr>
        <p:spPr>
          <a:xfrm>
            <a:off x="445899" y="3428999"/>
            <a:ext cx="1680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7">
            <a:extLst>
              <a:ext uri="{FF2B5EF4-FFF2-40B4-BE49-F238E27FC236}">
                <a16:creationId xmlns:a16="http://schemas.microsoft.com/office/drawing/2014/main" id="{F23A7A8D-3345-38B2-0336-278C610F32AE}"/>
              </a:ext>
            </a:extLst>
          </p:cNvPr>
          <p:cNvCxnSpPr/>
          <p:nvPr/>
        </p:nvCxnSpPr>
        <p:spPr>
          <a:xfrm>
            <a:off x="9932028" y="5543763"/>
            <a:ext cx="168085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498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9E5C2-CAD6-89C7-5646-83774C7C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9FEBF68-8047-269B-A3D6-6E9A861A02AF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dirty="0"/>
              <a:t>앱</a:t>
            </a:r>
            <a:r>
              <a:rPr lang="en-US" altLang="ko-KR" dirty="0"/>
              <a:t>(</a:t>
            </a:r>
            <a:r>
              <a:rPr lang="ko-KR" altLang="en-US" dirty="0"/>
              <a:t>마약진단 </a:t>
            </a:r>
            <a:r>
              <a:rPr lang="en-US" altLang="ko-KR" dirty="0"/>
              <a:t>+</a:t>
            </a:r>
            <a:r>
              <a:rPr lang="ko-KR" altLang="en-US" dirty="0"/>
              <a:t> 경찰청 통합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DBB9F99E-9517-FBBA-7F06-F681A7C7472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843B4B1-5DCB-71B7-A50F-A850B46FF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700" y="1077245"/>
            <a:ext cx="2342457" cy="521413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36BCF3A-495D-88AE-2BCD-569493D9A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0755" y="1077243"/>
            <a:ext cx="2342457" cy="5214137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1CA5D85-D071-5EB6-9BE7-341A81CEF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810" y="1077242"/>
            <a:ext cx="2342457" cy="5214137"/>
          </a:xfrm>
          <a:prstGeom prst="rect">
            <a:avLst/>
          </a:prstGeom>
        </p:spPr>
      </p:pic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F08BBFE-E2E5-87EB-7A00-DBEE0CB76227}"/>
              </a:ext>
            </a:extLst>
          </p:cNvPr>
          <p:cNvSpPr/>
          <p:nvPr/>
        </p:nvSpPr>
        <p:spPr>
          <a:xfrm>
            <a:off x="4736387" y="2208944"/>
            <a:ext cx="2157573" cy="1006867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4BCC332-25F3-C925-4187-FDB4487C2215}"/>
              </a:ext>
            </a:extLst>
          </p:cNvPr>
          <p:cNvCxnSpPr/>
          <p:nvPr/>
        </p:nvCxnSpPr>
        <p:spPr>
          <a:xfrm>
            <a:off x="7003212" y="2712377"/>
            <a:ext cx="918163" cy="38014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0077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F7CE3-648B-3759-98D7-64586CDE7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90185342-0088-453F-870C-65D2CCCB68F3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dirty="0"/>
              <a:t>앱</a:t>
            </a:r>
            <a:r>
              <a:rPr lang="en-US" altLang="ko-KR" dirty="0"/>
              <a:t>(</a:t>
            </a:r>
            <a:r>
              <a:rPr lang="ko-KR" altLang="en-US" dirty="0"/>
              <a:t>마약진단 </a:t>
            </a:r>
            <a:r>
              <a:rPr lang="en-US" altLang="ko-KR" dirty="0"/>
              <a:t>+</a:t>
            </a:r>
            <a:r>
              <a:rPr lang="ko-KR" altLang="en-US" dirty="0"/>
              <a:t> 경찰청 통합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4E2BB071-6F9C-D731-4639-A5C90003D52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0495FAD8-606E-A220-3F32-2A0660931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791" y="1186664"/>
            <a:ext cx="2342457" cy="521413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8F882838-DD8B-FB81-2233-10FCC69E6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6123" y="1186662"/>
            <a:ext cx="2342458" cy="5214138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4040E1C2-DFA3-EA50-F3C3-BE450A5CCA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809" y="1186662"/>
            <a:ext cx="2342458" cy="5214138"/>
          </a:xfrm>
          <a:prstGeom prst="rect">
            <a:avLst/>
          </a:prstGeom>
        </p:spPr>
      </p:pic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965E7C88-F50E-996E-9774-0E0FEDE96443}"/>
              </a:ext>
            </a:extLst>
          </p:cNvPr>
          <p:cNvSpPr/>
          <p:nvPr/>
        </p:nvSpPr>
        <p:spPr>
          <a:xfrm>
            <a:off x="2215019" y="5967229"/>
            <a:ext cx="1074969" cy="4315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35402C29-7293-E87F-E28E-F54F2610A77A}"/>
              </a:ext>
            </a:extLst>
          </p:cNvPr>
          <p:cNvCxnSpPr>
            <a:cxnSpLocks/>
          </p:cNvCxnSpPr>
          <p:nvPr/>
        </p:nvCxnSpPr>
        <p:spPr>
          <a:xfrm flipV="1">
            <a:off x="3325795" y="5135023"/>
            <a:ext cx="805177" cy="104796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2F9F3F0-2B11-06C6-A145-273D596E2C99}"/>
              </a:ext>
            </a:extLst>
          </p:cNvPr>
          <p:cNvSpPr txBox="1"/>
          <p:nvPr/>
        </p:nvSpPr>
        <p:spPr>
          <a:xfrm>
            <a:off x="4313612" y="777240"/>
            <a:ext cx="2967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현재 본인 인증 실제 연동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6569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B9BED-F2BA-71FE-E644-D486AAA21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DAA285F1-99FD-0455-08B3-ED0632F992C1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dirty="0"/>
              <a:t>앱</a:t>
            </a:r>
            <a:r>
              <a:rPr lang="en-US" altLang="ko-KR" dirty="0"/>
              <a:t>(</a:t>
            </a:r>
            <a:r>
              <a:rPr lang="ko-KR" altLang="en-US" dirty="0"/>
              <a:t>마약진단 </a:t>
            </a:r>
            <a:r>
              <a:rPr lang="en-US" altLang="ko-KR" dirty="0"/>
              <a:t>+</a:t>
            </a:r>
            <a:r>
              <a:rPr lang="ko-KR" altLang="en-US" dirty="0"/>
              <a:t> 경찰청 통합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0E1CE38-EF76-2268-7999-C15493B3E8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67D7961-8D1C-04C9-46EF-521F09ABAF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1336" y="1188714"/>
            <a:ext cx="2285171" cy="50866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E7AC4C6D-81B5-1653-7A5B-EB90751C9C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1850" y="1188714"/>
            <a:ext cx="2285172" cy="5086624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02475AE-39AF-B929-0A53-60245BE201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2365" y="1188711"/>
            <a:ext cx="2285172" cy="5086624"/>
          </a:xfrm>
          <a:prstGeom prst="rect">
            <a:avLst/>
          </a:prstGeom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934A9080-1FCA-D7D6-3029-87E9B08A0F4F}"/>
              </a:ext>
            </a:extLst>
          </p:cNvPr>
          <p:cNvSpPr/>
          <p:nvPr/>
        </p:nvSpPr>
        <p:spPr>
          <a:xfrm>
            <a:off x="1462458" y="5843819"/>
            <a:ext cx="2189563" cy="4315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1337FFD8-4B7D-9E70-A035-FE9BC358E67B}"/>
              </a:ext>
            </a:extLst>
          </p:cNvPr>
          <p:cNvCxnSpPr>
            <a:cxnSpLocks/>
          </p:cNvCxnSpPr>
          <p:nvPr/>
        </p:nvCxnSpPr>
        <p:spPr>
          <a:xfrm flipV="1">
            <a:off x="3652021" y="4551449"/>
            <a:ext cx="1016653" cy="129237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8599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EA684-65D1-DEBB-A2E3-15AC9830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37873D91-B0AA-B275-883A-BE2606A82EBF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dirty="0"/>
              <a:t>앱</a:t>
            </a:r>
            <a:r>
              <a:rPr lang="en-US" altLang="ko-KR" dirty="0"/>
              <a:t>(</a:t>
            </a:r>
            <a:r>
              <a:rPr lang="ko-KR" altLang="en-US" dirty="0"/>
              <a:t>마약진단 </a:t>
            </a:r>
            <a:r>
              <a:rPr lang="en-US" altLang="ko-KR" dirty="0"/>
              <a:t>+</a:t>
            </a:r>
            <a:r>
              <a:rPr lang="ko-KR" altLang="en-US" dirty="0"/>
              <a:t> 경찰청 통합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6E6B193-8FF2-FCBD-CEB9-D95978F716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817F5333-2D39-9B57-5553-23EE2EB20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677" y="1188718"/>
            <a:ext cx="2203525" cy="490488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42A220BA-F801-50CD-82C9-37875BE4E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0302" y="1188719"/>
            <a:ext cx="2203525" cy="4904883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6892BFD-A0A3-98A0-4F84-2F434F351E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2927" y="1188720"/>
            <a:ext cx="2203525" cy="4904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2FF66C6-64FE-E668-9E0D-388E098B4163}"/>
              </a:ext>
            </a:extLst>
          </p:cNvPr>
          <p:cNvSpPr txBox="1"/>
          <p:nvPr/>
        </p:nvSpPr>
        <p:spPr>
          <a:xfrm>
            <a:off x="4740753" y="764398"/>
            <a:ext cx="2082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현재 </a:t>
            </a:r>
            <a:r>
              <a:rPr kumimoji="1" lang="en-US" altLang="ko-KR" dirty="0"/>
              <a:t>PG</a:t>
            </a:r>
            <a:r>
              <a:rPr kumimoji="1" lang="ko-KR" altLang="en-US" dirty="0"/>
              <a:t>사 연동 </a:t>
            </a:r>
            <a:r>
              <a:rPr kumimoji="1" lang="en-US" altLang="ko-KR" dirty="0"/>
              <a:t>X</a:t>
            </a:r>
            <a:endParaRPr kumimoji="1" lang="ko-KR" altLang="en-US" dirty="0"/>
          </a:p>
        </p:txBody>
      </p:sp>
      <p:sp>
        <p:nvSpPr>
          <p:cNvPr id="4" name="모서리가 둥근 직사각형 3">
            <a:extLst>
              <a:ext uri="{FF2B5EF4-FFF2-40B4-BE49-F238E27FC236}">
                <a16:creationId xmlns:a16="http://schemas.microsoft.com/office/drawing/2014/main" id="{47C614CB-C11E-6CC7-86E5-98C4CB35F0C7}"/>
              </a:ext>
            </a:extLst>
          </p:cNvPr>
          <p:cNvSpPr/>
          <p:nvPr/>
        </p:nvSpPr>
        <p:spPr>
          <a:xfrm>
            <a:off x="1056526" y="5662085"/>
            <a:ext cx="2189563" cy="4315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F0308029-FC2E-1666-8821-F2A4E2CE0A3E}"/>
              </a:ext>
            </a:extLst>
          </p:cNvPr>
          <p:cNvCxnSpPr>
            <a:cxnSpLocks/>
          </p:cNvCxnSpPr>
          <p:nvPr/>
        </p:nvCxnSpPr>
        <p:spPr>
          <a:xfrm flipV="1">
            <a:off x="3246089" y="4438436"/>
            <a:ext cx="1263832" cy="12236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F5C0A988-E4BD-C4E8-7120-B0620E29E971}"/>
              </a:ext>
            </a:extLst>
          </p:cNvPr>
          <p:cNvSpPr/>
          <p:nvPr/>
        </p:nvSpPr>
        <p:spPr>
          <a:xfrm>
            <a:off x="4694264" y="5659908"/>
            <a:ext cx="2189563" cy="36074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31BF1665-3DF7-AD89-F4B2-57E4DBAC42B7}"/>
              </a:ext>
            </a:extLst>
          </p:cNvPr>
          <p:cNvCxnSpPr>
            <a:cxnSpLocks/>
          </p:cNvCxnSpPr>
          <p:nvPr/>
        </p:nvCxnSpPr>
        <p:spPr>
          <a:xfrm flipV="1">
            <a:off x="6883827" y="4510355"/>
            <a:ext cx="1160838" cy="1149553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5042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F5FDE-EDE1-1DB4-B189-CCBFF0313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17F34E7C-4D7F-D42A-F307-922399F9A864}"/>
              </a:ext>
            </a:extLst>
          </p:cNvPr>
          <p:cNvSpPr>
            <a:spLocks noGrp="1"/>
          </p:cNvSpPr>
          <p:nvPr>
            <p:ph type="title" idx="101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/>
              <a:t>앱</a:t>
            </a:r>
            <a:r>
              <a:rPr lang="en-US" altLang="ko-KR" dirty="0"/>
              <a:t>(</a:t>
            </a:r>
            <a:r>
              <a:rPr lang="ko-KR" altLang="en-US" dirty="0"/>
              <a:t>마약진단 </a:t>
            </a:r>
            <a:r>
              <a:rPr lang="en-US" altLang="ko-KR" dirty="0"/>
              <a:t>+</a:t>
            </a:r>
            <a:r>
              <a:rPr lang="ko-KR" altLang="en-US" dirty="0"/>
              <a:t> 경찰청 통합</a:t>
            </a:r>
            <a:r>
              <a:rPr lang="en-US" altLang="ko-KR" dirty="0"/>
              <a:t>)</a:t>
            </a:r>
            <a:endParaRPr lang="en-US" sz="3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5867266-CD1E-60DD-25EF-7EEE61A26FF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81FB3D38-56A5-74F1-ED55-032CC1A7B1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63" b="5922"/>
          <a:stretch>
            <a:fillRect/>
          </a:stretch>
        </p:blipFill>
        <p:spPr>
          <a:xfrm>
            <a:off x="1219144" y="1241170"/>
            <a:ext cx="2273081" cy="500726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2BD8B3B4-CEA5-9CB4-6EB9-40992E31CE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459" y="1188720"/>
            <a:ext cx="2273081" cy="505971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530FC794-D8ED-F455-DE3F-82FF75ECA3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9773" y="1188721"/>
            <a:ext cx="2273081" cy="5059709"/>
          </a:xfrm>
          <a:prstGeom prst="rect">
            <a:avLst/>
          </a:prstGeom>
        </p:spPr>
      </p:pic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C5770BAD-8BA9-B66B-79F1-358E0F5D69A8}"/>
              </a:ext>
            </a:extLst>
          </p:cNvPr>
          <p:cNvSpPr/>
          <p:nvPr/>
        </p:nvSpPr>
        <p:spPr>
          <a:xfrm>
            <a:off x="5015629" y="5764464"/>
            <a:ext cx="2189563" cy="431516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63BD4493-CCF6-0DD1-89B2-2AE8AAA9E771}"/>
              </a:ext>
            </a:extLst>
          </p:cNvPr>
          <p:cNvCxnSpPr>
            <a:cxnSpLocks/>
          </p:cNvCxnSpPr>
          <p:nvPr/>
        </p:nvCxnSpPr>
        <p:spPr>
          <a:xfrm flipV="1">
            <a:off x="7205192" y="4540815"/>
            <a:ext cx="1263832" cy="122364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4919948"/>
      </p:ext>
    </p:extLst>
  </p:cSld>
  <p:clrMapOvr>
    <a:masterClrMapping/>
  </p:clrMapOvr>
</p:sld>
</file>

<file path=ppt/theme/theme1.xml><?xml version="1.0" encoding="utf-8"?>
<a:theme xmlns:a="http://schemas.openxmlformats.org/drawingml/2006/main" name="MARK-4 Report">
  <a:themeElements>
    <a:clrScheme name="MARK-4 Report">
      <a:dk1>
        <a:srgbClr val="1A2A4A"/>
      </a:dk1>
      <a:lt1>
        <a:srgbClr val="FFFFFF"/>
      </a:lt1>
      <a:dk2>
        <a:srgbClr val="0F1B33"/>
      </a:dk2>
      <a:lt2>
        <a:srgbClr val="EEF3FA"/>
      </a:lt2>
      <a:accent1>
        <a:srgbClr val="1062F3"/>
      </a:accent1>
      <a:accent2>
        <a:srgbClr val="28B6A7"/>
      </a:accent2>
      <a:accent3>
        <a:srgbClr val="E85D5D"/>
      </a:accent3>
      <a:accent4>
        <a:srgbClr val="F5A623"/>
      </a:accent4>
      <a:accent5>
        <a:srgbClr val="6B6B6B"/>
      </a:accent5>
      <a:accent6>
        <a:srgbClr val="2F89FF"/>
      </a:accent6>
      <a:hlink>
        <a:srgbClr val="1062F3"/>
      </a:hlink>
      <a:folHlink>
        <a:srgbClr val="6B6B6B"/>
      </a:folHlink>
    </a:clrScheme>
    <a:fontScheme name="MARK-4 Repor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631</Words>
  <Application>Microsoft Macintosh PowerPoint</Application>
  <PresentationFormat>와이드스크린</PresentationFormat>
  <Paragraphs>131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8" baseType="lpstr">
      <vt:lpstr>Arial</vt:lpstr>
      <vt:lpstr>MARK-4 Report</vt:lpstr>
      <vt:lpstr>PowerPoint 프레젠테이션</vt:lpstr>
      <vt:lpstr>화면 흐름 변경 (기존)</vt:lpstr>
      <vt:lpstr>화면 흐름 변경 (신규)</vt:lpstr>
      <vt:lpstr>신규 화면</vt:lpstr>
      <vt:lpstr>엑셀 출력: Single → Dual</vt:lpstr>
      <vt:lpstr>Dual 엑셀 출력 샘플</vt:lpstr>
      <vt:lpstr>앱 – 대시보드 연동 (앱)</vt:lpstr>
      <vt:lpstr>앱 – 대시보드 연동 (웹)</vt:lpstr>
      <vt:lpstr>앱 – 대시보드 연동 (웹)</vt:lpstr>
      <vt:lpstr>앱 – 대시보드 연동 (비교)</vt:lpstr>
      <vt:lpstr>앱 – 대시보드 연동 (비교)</vt:lpstr>
      <vt:lpstr>앱(마약진단 + 경찰청 통합)</vt:lpstr>
      <vt:lpstr>앱(마약진단 + 경찰청 통합)</vt:lpstr>
      <vt:lpstr>앱(마약진단 + 경찰청 통합)</vt:lpstr>
      <vt:lpstr>앱(마약진단 + 경찰청 통합)</vt:lpstr>
      <vt:lpstr>앱(마약진단 + 경찰청 통합)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MARK-4 Dual Strip 업데이트 보고</dc:title>
  <dc:subject>PptxGenJS Presentation</dc:subject>
  <dc:creator>연구개발</dc:creator>
  <cp:lastModifiedBy>fa mily2</cp:lastModifiedBy>
  <cp:revision>8</cp:revision>
  <dcterms:created xsi:type="dcterms:W3CDTF">2026-10-16T02:01:52Z</dcterms:created>
  <dcterms:modified xsi:type="dcterms:W3CDTF">2026-10-16T06:28:10Z</dcterms:modified>
</cp:coreProperties>
</file>